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9" d="100"/>
          <a:sy n="79" d="100"/>
        </p:scale>
        <p:origin x="396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73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 IEEE 830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29000" y="14173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TALLER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</a:t>
            </a:r>
            <a:r>
              <a:rPr lang="en-US" sz="6000" b="1" dirty="0">
                <a:solidFill>
                  <a:srgbClr val="DE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MIVO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Digital de Agendamiento de Citas y Control de Servicios para Talleres Automotrices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1005840" cy="0"/>
          </a:xfrm>
          <a:prstGeom prst="line">
            <a:avLst/>
          </a:prstGeom>
          <a:noFill/>
          <a:ln w="38100">
            <a:solidFill>
              <a:srgbClr val="DE242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Aprendices SENA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+ MySQL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4791456"/>
            <a:ext cx="54864" cy="54864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218688" y="4791456"/>
            <a:ext cx="54864" cy="54864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4008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y documentación del sistema  ·  Modelo de datos, arquitectura y stack tecnológico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E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del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MIVO es un sistema digital para talleres de motos que centraliza el agendamiento de citas, la gestión de clientes y vehículos, el control de servicios prestados y la facturación, reemplazando el registro manual en papel u hojas de cálculo.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10712"/>
            <a:ext cx="91440" cy="91440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77240" y="32644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que resuelve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53872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talleres pierden citas, historiales y repuestos por llevar todo en papel o de memoria.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306824"/>
            <a:ext cx="91440" cy="91440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4348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Ofrecer una plataforma web que agende citas, controle el estado de cada servicio y genere facturas.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202936"/>
            <a:ext cx="91440" cy="91440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77240" y="505663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del sistema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33095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del taller y clientes, cada uno con su propio rol y permisos.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160020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4F4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656832" y="176479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E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56832" y="231343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 en el modelo de datos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35440" y="160020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4F4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9400032" y="176479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E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830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400032" y="231343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de especificación de requisitos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324612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4F4F5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21" name="Text 19"/>
          <p:cNvSpPr/>
          <p:nvPr/>
        </p:nvSpPr>
        <p:spPr>
          <a:xfrm>
            <a:off x="6656832" y="341071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E2429"/>
                </a:solidFill>
                <a:latin typeface="Arial" pitchFamily="34" charset="0"/>
                <a:cs typeface="Arial" pitchFamily="34" charset="-120"/>
              </a:rPr>
              <a:t>MySQL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56832" y="395935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backend sobre MySQL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235440" y="324612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4F4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9400032" y="341071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E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400032" y="395935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en capas: modelo, controlador y vista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MIVO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E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stack tecnológico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de datos del sistema sigue el patrón MVC: MySQL almacena la información, el Modelo la expone mediante JPA, el Controller la publica como servicios REST y la Vista la consume en HTML, CSS y JavaScript.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3246120"/>
          </a:xfrm>
          <a:prstGeom prst="roundRect">
            <a:avLst>
              <a:gd name="adj" fmla="val 1690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user-data/uploads/STACK_TECNOLOGICO__1__jfif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419" y="2770632"/>
            <a:ext cx="5398681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88720" y="6089904"/>
            <a:ext cx="73152" cy="73152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1389888" y="59801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MVC — controladores REST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80560" y="6089904"/>
            <a:ext cx="73152" cy="73152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4681728" y="59801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JPA — acceso a MySQL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0" y="6089904"/>
            <a:ext cx="73152" cy="73152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7973568" y="59801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 — autenticación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MIVO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E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Entidad-Relación (MER)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333176" y="1554480"/>
            <a:ext cx="3447039" cy="4983480"/>
          </a:xfrm>
          <a:prstGeom prst="roundRect">
            <a:avLst>
              <a:gd name="adj" fmla="val 1326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/mnt/user-data/uploads/Diagrama_MER_MIVO_drawio__1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336" y="1691640"/>
            <a:ext cx="3172719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7647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diagrama MER define las 14 entidades del negocio y sus relaciones: clientes con sus motos, citas asociadas a un servicio, historial de servicios prestados y la facturación generada por cada atención.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310128"/>
            <a:ext cx="64008" cy="64008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749808" y="3191256"/>
            <a:ext cx="7464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— posee — Moto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675888"/>
            <a:ext cx="64008" cy="64008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749808" y="3557016"/>
            <a:ext cx="7464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— agenda — Citas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4041648"/>
            <a:ext cx="64008" cy="64008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749808" y="3922776"/>
            <a:ext cx="7464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Citas — asociada a — Servicio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407408"/>
            <a:ext cx="64008" cy="64008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749808" y="4288536"/>
            <a:ext cx="7464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— pertenece a — Tipo de servicio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773168"/>
            <a:ext cx="64008" cy="64008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749808" y="4654296"/>
            <a:ext cx="7464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— hace parte de — Citas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5138928"/>
            <a:ext cx="64008" cy="64008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749808" y="5020056"/>
            <a:ext cx="7464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— administra — Taller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5504688"/>
            <a:ext cx="64008" cy="64008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749808" y="5385816"/>
            <a:ext cx="7464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/ Administrador — autentican — Usuario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5870448"/>
            <a:ext cx="64008" cy="64008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749808" y="5751576"/>
            <a:ext cx="7464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 — genera — Usuario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MIVO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E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Físico Relacional (MFR)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17967" y="1554480"/>
            <a:ext cx="4162248" cy="4983480"/>
          </a:xfrm>
          <a:prstGeom prst="roundRect">
            <a:avLst>
              <a:gd name="adj" fmla="val 1098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/mnt/user-data/uploads/MFR___1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127" y="1691640"/>
            <a:ext cx="3887928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693216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físico traduce el MER a 14 tablas en MySQL con sus tipos de dato, llaves primarias, llaves foráneas y restricciones de unicidad, listas para implementarse con Spring Data JPA.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364992"/>
            <a:ext cx="82296" cy="82296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777240" y="3236976"/>
            <a:ext cx="67035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autoincremental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529584"/>
            <a:ext cx="67035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tabla tiene su identificador único (INT, AI)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4142232"/>
            <a:ext cx="82296" cy="82296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777240" y="4014216"/>
            <a:ext cx="67035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Relaciones 1:N y N:M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4306824"/>
            <a:ext cx="67035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ej. moto_servicio conecta motos con servicios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4919472"/>
            <a:ext cx="82296" cy="82296"/>
          </a:xfrm>
          <a:prstGeom prst="line">
            <a:avLst/>
          </a:prstGeom>
          <a:solidFill>
            <a:srgbClr val="DE242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777240" y="4791456"/>
            <a:ext cx="67035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de catálogo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5084064"/>
            <a:ext cx="67035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rol, estado_cliente, tipo_servicio y tipo_identificación normalizan valores fijos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MIVO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E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entidad del MER quedó documentada en el diccionario de datos con sus atributos, tipos de dato, longitudes, llaves y tablas referenciadas.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5440680" cy="349910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Entidad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24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24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181B"/>
                          </a:solidFill>
                        </a:rPr>
                        <a:t>Administrador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1717A"/>
                          </a:solidFill>
                        </a:rPr>
                        <a:t>Usuario con permisos de gestión total sobre el taller.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181B"/>
                          </a:solidFill>
                        </a:rPr>
                        <a:t>Usuario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1717A"/>
                          </a:solidFill>
                        </a:rPr>
                        <a:t>Cuenta de acceso (credenciales y rol) para clientes y administrador.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181B"/>
                          </a:solidFill>
                        </a:rPr>
                        <a:t>Rol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1717A"/>
                          </a:solidFill>
                        </a:rPr>
                        <a:t>Catálogo de roles y permisos disponibles en el sistema.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181B"/>
                          </a:solidFill>
                        </a:rPr>
                        <a:t>Cliente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1717A"/>
                          </a:solidFill>
                        </a:rPr>
                        <a:t>Dueño de una o más motos que agenda citas en el taller.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181B"/>
                          </a:solidFill>
                        </a:rPr>
                        <a:t>Estado_cliente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1717A"/>
                          </a:solidFill>
                        </a:rPr>
                        <a:t>Catálogo del estado de una cuenta: activo, inactivo o bloqueado.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181B"/>
                          </a:solidFill>
                        </a:rPr>
                        <a:t>Tipo_identificación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1717A"/>
                          </a:solidFill>
                        </a:rPr>
                        <a:t>Catálogo de tipos de documento (CC, TI, CE).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181B"/>
                          </a:solidFill>
                        </a:rPr>
                        <a:t>Moto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1717A"/>
                          </a:solidFill>
                        </a:rPr>
                        <a:t>Vehículo registrado, con placa, cilindraje y mantenimiento.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240280"/>
          <a:ext cx="5440680" cy="336499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Entidad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24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24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181B"/>
                          </a:solidFill>
                        </a:rPr>
                        <a:t>Taller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1717A"/>
                          </a:solidFill>
                        </a:rPr>
                        <a:t>Datos generales del taller: dirección, NIT y horario.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181B"/>
                          </a:solidFill>
                        </a:rPr>
                        <a:t>Citas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1717A"/>
                          </a:solidFill>
                        </a:rPr>
                        <a:t>Agendamiento de un servicio en fecha y hora determinadas.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181B"/>
                          </a:solidFill>
                        </a:rPr>
                        <a:t>Servicio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1717A"/>
                          </a:solidFill>
                        </a:rPr>
                        <a:t>Servicio ofrecido, con precio, duración y garantía.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181B"/>
                          </a:solidFill>
                        </a:rPr>
                        <a:t>Tipo_servicio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1717A"/>
                          </a:solidFill>
                        </a:rPr>
                        <a:t>Categoría a la que pertenece cada servicio.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181B"/>
                          </a:solidFill>
                        </a:rPr>
                        <a:t>Moto_servicio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1717A"/>
                          </a:solidFill>
                        </a:rPr>
                        <a:t>Relación entre una moto y los servicios que se le asignan.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181B"/>
                          </a:solidFill>
                        </a:rPr>
                        <a:t>Historial_servicio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1717A"/>
                          </a:solidFill>
                        </a:rPr>
                        <a:t>Registro histórico de servicios ya realizados.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181B"/>
                          </a:solidFill>
                        </a:rPr>
                        <a:t>Facturas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1717A"/>
                          </a:solidFill>
                        </a:rPr>
                        <a:t>Factura generada por cada servicio prestado a un cliente.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diccionario completo detalla además tipo de dato, longitud, obligatoriedad, unicidad y llaves foráneas de cada atributo.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MIVO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31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</a:t>
            </a:r>
            <a:r>
              <a:rPr lang="en-US" sz="4200" b="1" dirty="0">
                <a:solidFill>
                  <a:srgbClr val="DE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MIVO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su atención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794760"/>
            <a:ext cx="1005840" cy="0"/>
          </a:xfrm>
          <a:prstGeom prst="line">
            <a:avLst/>
          </a:prstGeom>
          <a:noFill/>
          <a:ln w="38100">
            <a:solidFill>
              <a:srgbClr val="DE242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Aprendices SENA 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686</Words>
  <Application>Microsoft Office PowerPoint</Application>
  <PresentationFormat>Panorámica</PresentationFormat>
  <Paragraphs>106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YESID  MUÑOZ ARANGO</cp:lastModifiedBy>
  <cp:revision>2</cp:revision>
  <dcterms:created xsi:type="dcterms:W3CDTF">2026-09-23T00:21:23Z</dcterms:created>
  <dcterms:modified xsi:type="dcterms:W3CDTF">2026-09-25T00:02:59Z</dcterms:modified>
</cp:coreProperties>
</file>